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7" r:id="rId1"/>
  </p:sldMasterIdLst>
  <p:notesMasterIdLst>
    <p:notesMasterId r:id="rId22"/>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7" d="100"/>
          <a:sy n="67" d="100"/>
        </p:scale>
        <p:origin x="8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rmila Dutta" userId="b66f955f518e75b2" providerId="LiveId" clId="{F406F5D5-76CC-453F-BACA-641362F2CF8F}"/>
    <pc:docChg chg="modSld">
      <pc:chgData name="Urmila Dutta" userId="b66f955f518e75b2" providerId="LiveId" clId="{F406F5D5-76CC-453F-BACA-641362F2CF8F}" dt="2025-10-14T15:25:35.308" v="50" actId="1076"/>
      <pc:docMkLst>
        <pc:docMk/>
      </pc:docMkLst>
      <pc:sldChg chg="modSp mod">
        <pc:chgData name="Urmila Dutta" userId="b66f955f518e75b2" providerId="LiveId" clId="{F406F5D5-76CC-453F-BACA-641362F2CF8F}" dt="2025-10-14T15:25:35.308" v="50" actId="1076"/>
        <pc:sldMkLst>
          <pc:docMk/>
          <pc:sldMk cId="3516342524" sldId="256"/>
        </pc:sldMkLst>
        <pc:spChg chg="mod">
          <ac:chgData name="Urmila Dutta" userId="b66f955f518e75b2" providerId="LiveId" clId="{F406F5D5-76CC-453F-BACA-641362F2CF8F}" dt="2025-10-14T15:25:06.128" v="48" actId="255"/>
          <ac:spMkLst>
            <pc:docMk/>
            <pc:sldMk cId="3516342524" sldId="256"/>
            <ac:spMk id="2" creationId="{99A864EC-C415-04A3-0DA3-15C80D5CCB1A}"/>
          </ac:spMkLst>
        </pc:spChg>
        <pc:spChg chg="mod">
          <ac:chgData name="Urmila Dutta" userId="b66f955f518e75b2" providerId="LiveId" clId="{F406F5D5-76CC-453F-BACA-641362F2CF8F}" dt="2025-10-14T15:25:35.308" v="50" actId="1076"/>
          <ac:spMkLst>
            <pc:docMk/>
            <pc:sldMk cId="3516342524" sldId="256"/>
            <ac:spMk id="4" creationId="{84F8CA96-5140-6C40-1F7C-572114B34AA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0C2C8C-423F-40E2-AB7A-22F814F56C24}" type="datetimeFigureOut">
              <a:rPr lang="en-IN" smtClean="0"/>
              <a:t>14-10-2025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87890D-E2CB-417D-99FC-CAC45753093A}" type="slidenum">
              <a:rPr lang="en-IN" smtClean="0"/>
              <a:t>‹#›</a:t>
            </a:fld>
            <a:endParaRPr lang="en-IN"/>
          </a:p>
        </p:txBody>
      </p:sp>
    </p:spTree>
    <p:extLst>
      <p:ext uri="{BB962C8B-B14F-4D97-AF65-F5344CB8AC3E}">
        <p14:creationId xmlns:p14="http://schemas.microsoft.com/office/powerpoint/2010/main" val="37335514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FF87890D-E2CB-417D-99FC-CAC45753093A}" type="slidenum">
              <a:rPr lang="en-IN" smtClean="0"/>
              <a:t>1</a:t>
            </a:fld>
            <a:endParaRPr lang="en-IN"/>
          </a:p>
        </p:txBody>
      </p:sp>
    </p:spTree>
    <p:extLst>
      <p:ext uri="{BB962C8B-B14F-4D97-AF65-F5344CB8AC3E}">
        <p14:creationId xmlns:p14="http://schemas.microsoft.com/office/powerpoint/2010/main" val="3435599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F8856A4-E6C5-400D-B953-8566EF4546B8}" type="datetimeFigureOut">
              <a:rPr lang="en-IN" smtClean="0"/>
              <a:t>14-10-2025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3A0FE05-0854-45EA-9EA1-4E9E08F0905C}" type="slidenum">
              <a:rPr lang="en-IN" smtClean="0"/>
              <a:t>‹#›</a:t>
            </a:fld>
            <a:endParaRPr lang="en-IN"/>
          </a:p>
        </p:txBody>
      </p:sp>
    </p:spTree>
    <p:extLst>
      <p:ext uri="{BB962C8B-B14F-4D97-AF65-F5344CB8AC3E}">
        <p14:creationId xmlns:p14="http://schemas.microsoft.com/office/powerpoint/2010/main" val="396920693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F8856A4-E6C5-400D-B953-8566EF4546B8}" type="datetimeFigureOut">
              <a:rPr lang="en-IN" smtClean="0"/>
              <a:t>14-10-2025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3A0FE05-0854-45EA-9EA1-4E9E08F0905C}" type="slidenum">
              <a:rPr lang="en-IN" smtClean="0"/>
              <a:t>‹#›</a:t>
            </a:fld>
            <a:endParaRPr lang="en-IN"/>
          </a:p>
        </p:txBody>
      </p:sp>
    </p:spTree>
    <p:extLst>
      <p:ext uri="{BB962C8B-B14F-4D97-AF65-F5344CB8AC3E}">
        <p14:creationId xmlns:p14="http://schemas.microsoft.com/office/powerpoint/2010/main" val="3693964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F8856A4-E6C5-400D-B953-8566EF4546B8}" type="datetimeFigureOut">
              <a:rPr lang="en-IN" smtClean="0"/>
              <a:t>14-10-2025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3A0FE05-0854-45EA-9EA1-4E9E08F0905C}" type="slidenum">
              <a:rPr lang="en-IN" smtClean="0"/>
              <a:t>‹#›</a:t>
            </a:fld>
            <a:endParaRPr lang="en-IN"/>
          </a:p>
        </p:txBody>
      </p:sp>
    </p:spTree>
    <p:extLst>
      <p:ext uri="{BB962C8B-B14F-4D97-AF65-F5344CB8AC3E}">
        <p14:creationId xmlns:p14="http://schemas.microsoft.com/office/powerpoint/2010/main" val="67275284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1F8856A4-E6C5-400D-B953-8566EF4546B8}" type="datetimeFigureOut">
              <a:rPr lang="en-IN" smtClean="0"/>
              <a:t>14-10-2025</a:t>
            </a:fld>
            <a:endParaRPr lang="en-IN"/>
          </a:p>
        </p:txBody>
      </p:sp>
      <p:sp>
        <p:nvSpPr>
          <p:cNvPr id="9" name="Footer Placeholder 8"/>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33A0FE05-0854-45EA-9EA1-4E9E08F0905C}" type="slidenum">
              <a:rPr lang="en-IN" smtClean="0"/>
              <a:t>‹#›</a:t>
            </a:fld>
            <a:endParaRPr lang="en-IN"/>
          </a:p>
        </p:txBody>
      </p:sp>
    </p:spTree>
    <p:extLst>
      <p:ext uri="{BB962C8B-B14F-4D97-AF65-F5344CB8AC3E}">
        <p14:creationId xmlns:p14="http://schemas.microsoft.com/office/powerpoint/2010/main" val="8861886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1F8856A4-E6C5-400D-B953-8566EF4546B8}" type="datetimeFigureOut">
              <a:rPr lang="en-IN" smtClean="0"/>
              <a:t>14-10-2025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3A0FE05-0854-45EA-9EA1-4E9E08F0905C}" type="slidenum">
              <a:rPr lang="en-IN" smtClean="0"/>
              <a:t>‹#›</a:t>
            </a:fld>
            <a:endParaRPr lang="en-IN"/>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4210274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F8856A4-E6C5-400D-B953-8566EF4546B8}" type="datetimeFigureOut">
              <a:rPr lang="en-IN" smtClean="0"/>
              <a:t>14-10-2025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3A0FE05-0854-45EA-9EA1-4E9E08F0905C}" type="slidenum">
              <a:rPr lang="en-IN" smtClean="0"/>
              <a:t>‹#›</a:t>
            </a:fld>
            <a:endParaRPr lang="en-IN"/>
          </a:p>
        </p:txBody>
      </p:sp>
    </p:spTree>
    <p:extLst>
      <p:ext uri="{BB962C8B-B14F-4D97-AF65-F5344CB8AC3E}">
        <p14:creationId xmlns:p14="http://schemas.microsoft.com/office/powerpoint/2010/main" val="3249180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8856A4-E6C5-400D-B953-8566EF4546B8}" type="datetimeFigureOut">
              <a:rPr lang="en-IN" smtClean="0"/>
              <a:t>14-10-2025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3A0FE05-0854-45EA-9EA1-4E9E08F0905C}" type="slidenum">
              <a:rPr lang="en-IN" smtClean="0"/>
              <a:t>‹#›</a:t>
            </a:fld>
            <a:endParaRPr lang="en-IN"/>
          </a:p>
        </p:txBody>
      </p:sp>
    </p:spTree>
    <p:extLst>
      <p:ext uri="{BB962C8B-B14F-4D97-AF65-F5344CB8AC3E}">
        <p14:creationId xmlns:p14="http://schemas.microsoft.com/office/powerpoint/2010/main" val="37132629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1F8856A4-E6C5-400D-B953-8566EF4546B8}" type="datetimeFigureOut">
              <a:rPr lang="en-IN" smtClean="0"/>
              <a:t>14-10-2025</a:t>
            </a:fld>
            <a:endParaRPr lang="en-IN"/>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1" name="Slide Number Placeholder 10"/>
          <p:cNvSpPr>
            <a:spLocks noGrp="1"/>
          </p:cNvSpPr>
          <p:nvPr>
            <p:ph type="sldNum" sz="quarter" idx="12"/>
          </p:nvPr>
        </p:nvSpPr>
        <p:spPr/>
        <p:txBody>
          <a:bodyPr/>
          <a:lstStyle/>
          <a:p>
            <a:fld id="{33A0FE05-0854-45EA-9EA1-4E9E08F0905C}" type="slidenum">
              <a:rPr lang="en-IN" smtClean="0"/>
              <a:t>‹#›</a:t>
            </a:fld>
            <a:endParaRPr lang="en-IN"/>
          </a:p>
        </p:txBody>
      </p:sp>
    </p:spTree>
    <p:extLst>
      <p:ext uri="{BB962C8B-B14F-4D97-AF65-F5344CB8AC3E}">
        <p14:creationId xmlns:p14="http://schemas.microsoft.com/office/powerpoint/2010/main" val="14800675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1F8856A4-E6C5-400D-B953-8566EF4546B8}" type="datetimeFigureOut">
              <a:rPr lang="en-IN" smtClean="0"/>
              <a:t>14-10-2025</a:t>
            </a:fld>
            <a:endParaRPr lang="en-IN"/>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IN"/>
          </a:p>
        </p:txBody>
      </p:sp>
      <p:sp>
        <p:nvSpPr>
          <p:cNvPr id="10" name="Slide Number Placeholder 9"/>
          <p:cNvSpPr>
            <a:spLocks noGrp="1"/>
          </p:cNvSpPr>
          <p:nvPr>
            <p:ph type="sldNum" sz="quarter" idx="12"/>
          </p:nvPr>
        </p:nvSpPr>
        <p:spPr/>
        <p:txBody>
          <a:bodyPr/>
          <a:lstStyle/>
          <a:p>
            <a:fld id="{33A0FE05-0854-45EA-9EA1-4E9E08F0905C}" type="slidenum">
              <a:rPr lang="en-IN" smtClean="0"/>
              <a:t>‹#›</a:t>
            </a:fld>
            <a:endParaRPr lang="en-IN"/>
          </a:p>
        </p:txBody>
      </p:sp>
    </p:spTree>
    <p:extLst>
      <p:ext uri="{BB962C8B-B14F-4D97-AF65-F5344CB8AC3E}">
        <p14:creationId xmlns:p14="http://schemas.microsoft.com/office/powerpoint/2010/main" val="2755061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8856A4-E6C5-400D-B953-8566EF4546B8}"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A0FE05-0854-45EA-9EA1-4E9E08F0905C}" type="slidenum">
              <a:rPr lang="en-IN" smtClean="0"/>
              <a:t>‹#›</a:t>
            </a:fld>
            <a:endParaRPr lang="en-IN"/>
          </a:p>
        </p:txBody>
      </p:sp>
    </p:spTree>
    <p:extLst>
      <p:ext uri="{BB962C8B-B14F-4D97-AF65-F5344CB8AC3E}">
        <p14:creationId xmlns:p14="http://schemas.microsoft.com/office/powerpoint/2010/main" val="40484918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8856A4-E6C5-400D-B953-8566EF4546B8}" type="datetimeFigureOut">
              <a:rPr lang="en-IN" smtClean="0"/>
              <a:t>14-10-2025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3A0FE05-0854-45EA-9EA1-4E9E08F0905C}" type="slidenum">
              <a:rPr lang="en-IN" smtClean="0"/>
              <a:t>‹#›</a:t>
            </a:fld>
            <a:endParaRPr lang="en-IN"/>
          </a:p>
        </p:txBody>
      </p:sp>
    </p:spTree>
    <p:extLst>
      <p:ext uri="{BB962C8B-B14F-4D97-AF65-F5344CB8AC3E}">
        <p14:creationId xmlns:p14="http://schemas.microsoft.com/office/powerpoint/2010/main" val="24756147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F8856A4-E6C5-400D-B953-8566EF4546B8}" type="datetimeFigureOut">
              <a:rPr lang="en-IN" smtClean="0"/>
              <a:t>14-10-2025</a:t>
            </a:fld>
            <a:endParaRPr lang="en-IN"/>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IN"/>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33A0FE05-0854-45EA-9EA1-4E9E08F0905C}" type="slidenum">
              <a:rPr lang="en-IN" smtClean="0"/>
              <a:t>‹#›</a:t>
            </a:fld>
            <a:endParaRPr lang="en-IN"/>
          </a:p>
        </p:txBody>
      </p:sp>
    </p:spTree>
    <p:extLst>
      <p:ext uri="{BB962C8B-B14F-4D97-AF65-F5344CB8AC3E}">
        <p14:creationId xmlns:p14="http://schemas.microsoft.com/office/powerpoint/2010/main" val="2578081398"/>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864EC-C415-04A3-0DA3-15C80D5CCB1A}"/>
              </a:ext>
            </a:extLst>
          </p:cNvPr>
          <p:cNvSpPr>
            <a:spLocks noGrp="1"/>
          </p:cNvSpPr>
          <p:nvPr>
            <p:ph type="title"/>
          </p:nvPr>
        </p:nvSpPr>
        <p:spPr>
          <a:xfrm>
            <a:off x="1857375" y="548104"/>
            <a:ext cx="8729663" cy="3009484"/>
          </a:xfrm>
        </p:spPr>
        <p:txBody>
          <a:bodyPr>
            <a:noAutofit/>
          </a:bodyPr>
          <a:lstStyle/>
          <a:p>
            <a:r>
              <a:rPr lang="en-US" sz="5400" b="1" u="sng" dirty="0">
                <a:latin typeface="Calisto MT" panose="02040603050505030304" pitchFamily="18" charset="0"/>
              </a:rPr>
              <a:t>PREDICTIVE  ANALYTICS  FOR  HR  STRATEGY</a:t>
            </a:r>
            <a:endParaRPr lang="en-IN" sz="5400" b="1" u="sng" dirty="0">
              <a:latin typeface="Calisto MT" panose="02040603050505030304" pitchFamily="18" charset="0"/>
            </a:endParaRPr>
          </a:p>
        </p:txBody>
      </p:sp>
      <p:sp>
        <p:nvSpPr>
          <p:cNvPr id="4" name="TextBox 3">
            <a:extLst>
              <a:ext uri="{FF2B5EF4-FFF2-40B4-BE49-F238E27FC236}">
                <a16:creationId xmlns:a16="http://schemas.microsoft.com/office/drawing/2014/main" id="{84F8CA96-5140-6C40-1F7C-572114B34AA6}"/>
              </a:ext>
            </a:extLst>
          </p:cNvPr>
          <p:cNvSpPr txBox="1"/>
          <p:nvPr/>
        </p:nvSpPr>
        <p:spPr>
          <a:xfrm>
            <a:off x="6336506" y="5127070"/>
            <a:ext cx="5557838" cy="1323439"/>
          </a:xfrm>
          <a:prstGeom prst="rect">
            <a:avLst/>
          </a:prstGeom>
          <a:noFill/>
        </p:spPr>
        <p:txBody>
          <a:bodyPr wrap="square" rtlCol="0">
            <a:spAutoFit/>
          </a:bodyPr>
          <a:lstStyle/>
          <a:p>
            <a:r>
              <a:rPr lang="en-US" sz="2000" u="sng" dirty="0"/>
              <a:t>PRESENTED BY :</a:t>
            </a:r>
          </a:p>
          <a:p>
            <a:r>
              <a:rPr lang="en-US" sz="2000" dirty="0"/>
              <a:t>CHANDRIMA BHOWMICK (AJU/242043)</a:t>
            </a:r>
          </a:p>
          <a:p>
            <a:r>
              <a:rPr lang="en-US" sz="2000" dirty="0"/>
              <a:t>URMILA DUTTA (AJU/242016)</a:t>
            </a:r>
          </a:p>
          <a:p>
            <a:r>
              <a:rPr lang="en-US" sz="2000" dirty="0"/>
              <a:t>SWATI KUMARI (AJU/241996)</a:t>
            </a:r>
            <a:endParaRPr lang="en-IN" sz="2000" dirty="0"/>
          </a:p>
        </p:txBody>
      </p:sp>
    </p:spTree>
    <p:extLst>
      <p:ext uri="{BB962C8B-B14F-4D97-AF65-F5344CB8AC3E}">
        <p14:creationId xmlns:p14="http://schemas.microsoft.com/office/powerpoint/2010/main" val="3516342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A9547-6368-9BAC-B5AF-BBCD9DED6EAE}"/>
              </a:ext>
            </a:extLst>
          </p:cNvPr>
          <p:cNvSpPr>
            <a:spLocks noGrp="1"/>
          </p:cNvSpPr>
          <p:nvPr>
            <p:ph type="title"/>
          </p:nvPr>
        </p:nvSpPr>
        <p:spPr>
          <a:xfrm>
            <a:off x="2231136" y="393192"/>
            <a:ext cx="7729728" cy="1188720"/>
          </a:xfrm>
        </p:spPr>
        <p:txBody>
          <a:bodyPr>
            <a:normAutofit/>
          </a:bodyPr>
          <a:lstStyle/>
          <a:p>
            <a:r>
              <a:rPr lang="en-US" sz="3600" u="sng"/>
              <a:t>SUMMARY OF PROJECT </a:t>
            </a:r>
            <a:endParaRPr lang="en-IN" sz="3600" u="sng"/>
          </a:p>
        </p:txBody>
      </p:sp>
      <p:sp>
        <p:nvSpPr>
          <p:cNvPr id="3" name="TextBox 2">
            <a:extLst>
              <a:ext uri="{FF2B5EF4-FFF2-40B4-BE49-F238E27FC236}">
                <a16:creationId xmlns:a16="http://schemas.microsoft.com/office/drawing/2014/main" id="{5BB1DE0E-05DD-8DDC-FA11-C42CB0B7E794}"/>
              </a:ext>
            </a:extLst>
          </p:cNvPr>
          <p:cNvSpPr txBox="1"/>
          <p:nvPr/>
        </p:nvSpPr>
        <p:spPr>
          <a:xfrm>
            <a:off x="722329" y="1828800"/>
            <a:ext cx="10747342" cy="2246769"/>
          </a:xfrm>
          <a:prstGeom prst="rect">
            <a:avLst/>
          </a:prstGeom>
          <a:noFill/>
        </p:spPr>
        <p:txBody>
          <a:bodyPr wrap="square" rtlCol="0">
            <a:spAutoFit/>
          </a:bodyPr>
          <a:lstStyle/>
          <a:p>
            <a:r>
              <a:rPr lang="en-US" sz="2000">
                <a:latin typeface="Times New Roman" panose="02020603050405020304" pitchFamily="18" charset="0"/>
                <a:cs typeface="Times New Roman" panose="02020603050405020304" pitchFamily="18" charset="0"/>
              </a:rPr>
              <a:t>In this project, we explore both predictive and descriptive methods to understand and forecast employee attrition using the IBM HR Analytics dataset. We developed three predictive models — C5.0, C&amp;R Tree, and Linear Regression — to classify and score attrition likelihood. To complement this, we used TwoStep Clustering to uncover natural groupings in the workforce that may influence attrition. Our evaluation focuses on model performance metrics (accuracy, precision, recall, and ROC AUC) and cluster interpretation. This approach enables HR teams to not only predict attrition but also uncover behavioral patterns across employee groups,improving strategic retention planning.</a:t>
            </a:r>
            <a:endParaRPr lang="en-IN"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6982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E4A6A-CFC8-B2B9-EB9F-94761CB56EF2}"/>
              </a:ext>
            </a:extLst>
          </p:cNvPr>
          <p:cNvSpPr>
            <a:spLocks noGrp="1"/>
          </p:cNvSpPr>
          <p:nvPr>
            <p:ph type="title"/>
          </p:nvPr>
        </p:nvSpPr>
        <p:spPr>
          <a:xfrm>
            <a:off x="2231136" y="365998"/>
            <a:ext cx="7612952" cy="1219915"/>
          </a:xfrm>
        </p:spPr>
        <p:txBody>
          <a:bodyPr>
            <a:normAutofit fontScale="90000"/>
          </a:bodyPr>
          <a:lstStyle/>
          <a:p>
            <a:r>
              <a:rPr lang="en-US" sz="3600" u="sng" dirty="0"/>
              <a:t>CLASSIFICATION MODEL: EMPLOYEE ATTRITION</a:t>
            </a:r>
            <a:endParaRPr lang="en-IN" sz="3600" u="sng" dirty="0"/>
          </a:p>
        </p:txBody>
      </p:sp>
      <p:sp>
        <p:nvSpPr>
          <p:cNvPr id="4" name="TextBox 3">
            <a:extLst>
              <a:ext uri="{FF2B5EF4-FFF2-40B4-BE49-F238E27FC236}">
                <a16:creationId xmlns:a16="http://schemas.microsoft.com/office/drawing/2014/main" id="{7F33828A-143F-1E91-A379-FEABB6254929}"/>
              </a:ext>
            </a:extLst>
          </p:cNvPr>
          <p:cNvSpPr txBox="1"/>
          <p:nvPr/>
        </p:nvSpPr>
        <p:spPr>
          <a:xfrm>
            <a:off x="838200" y="1690688"/>
            <a:ext cx="10671928" cy="4801314"/>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Classification is a supervised machine learning technique used in IBM SPSS Modeler to predict categorical outcomes (e.g., “Yes/No”, “Low/Medium/High”, “Leave/Stay”, etc.) based on input features.</a:t>
            </a: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C5.0 ALGORITHM :The C5.0 algorithm is an advanced decision tree classification technique used to predict categorical outcomes. It builds a tree by splitting data based on the most significant predictors and generates simple, easy-to-interpret rules.</a:t>
            </a:r>
          </a:p>
          <a:p>
            <a:endParaRPr lang="en-US">
              <a:latin typeface="Times New Roman" panose="02020603050405020304" pitchFamily="18" charset="0"/>
              <a:cs typeface="Times New Roman" panose="02020603050405020304" pitchFamily="18" charset="0"/>
            </a:endParaRPr>
          </a:p>
          <a:p>
            <a:endParaRPr lang="en-US"/>
          </a:p>
          <a:p>
            <a:endParaRPr lang="en-US"/>
          </a:p>
          <a:p>
            <a:endParaRPr lang="en-US"/>
          </a:p>
          <a:p>
            <a:endParaRPr lang="en-US"/>
          </a:p>
          <a:p>
            <a:endParaRPr lang="en-US"/>
          </a:p>
          <a:p>
            <a:endParaRPr lang="en-US"/>
          </a:p>
          <a:p>
            <a:endParaRPr lang="en-US"/>
          </a:p>
          <a:p>
            <a:endParaRPr lang="en-US"/>
          </a:p>
          <a:p>
            <a:endParaRPr lang="en-US"/>
          </a:p>
          <a:p>
            <a:endParaRPr lang="en-IN"/>
          </a:p>
        </p:txBody>
      </p:sp>
      <p:pic>
        <p:nvPicPr>
          <p:cNvPr id="6" name="Picture 5">
            <a:extLst>
              <a:ext uri="{FF2B5EF4-FFF2-40B4-BE49-F238E27FC236}">
                <a16:creationId xmlns:a16="http://schemas.microsoft.com/office/drawing/2014/main" id="{24596A16-CBD0-30BD-C0CF-F62D01115195}"/>
              </a:ext>
            </a:extLst>
          </p:cNvPr>
          <p:cNvPicPr>
            <a:picLocks noChangeAspect="1"/>
          </p:cNvPicPr>
          <p:nvPr/>
        </p:nvPicPr>
        <p:blipFill>
          <a:blip r:embed="rId2"/>
          <a:stretch>
            <a:fillRect/>
          </a:stretch>
        </p:blipFill>
        <p:spPr>
          <a:xfrm>
            <a:off x="999242" y="3497344"/>
            <a:ext cx="8116478" cy="2994658"/>
          </a:xfrm>
          <a:prstGeom prst="rect">
            <a:avLst/>
          </a:prstGeom>
        </p:spPr>
      </p:pic>
    </p:spTree>
    <p:extLst>
      <p:ext uri="{BB962C8B-B14F-4D97-AF65-F5344CB8AC3E}">
        <p14:creationId xmlns:p14="http://schemas.microsoft.com/office/powerpoint/2010/main" val="4206912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8EEFCD2-78BE-22EC-3A8D-80ABE712AD76}"/>
              </a:ext>
            </a:extLst>
          </p:cNvPr>
          <p:cNvPicPr>
            <a:picLocks noChangeAspect="1"/>
          </p:cNvPicPr>
          <p:nvPr/>
        </p:nvPicPr>
        <p:blipFill>
          <a:blip r:embed="rId2"/>
          <a:stretch>
            <a:fillRect/>
          </a:stretch>
        </p:blipFill>
        <p:spPr>
          <a:xfrm>
            <a:off x="1045345" y="1138512"/>
            <a:ext cx="8666458" cy="5323562"/>
          </a:xfrm>
          <a:prstGeom prst="rect">
            <a:avLst/>
          </a:prstGeom>
        </p:spPr>
      </p:pic>
      <p:sp>
        <p:nvSpPr>
          <p:cNvPr id="10" name="TextBox 9">
            <a:extLst>
              <a:ext uri="{FF2B5EF4-FFF2-40B4-BE49-F238E27FC236}">
                <a16:creationId xmlns:a16="http://schemas.microsoft.com/office/drawing/2014/main" id="{ACA8AC7B-3E65-D136-9BC4-5F6A12F017DC}"/>
              </a:ext>
            </a:extLst>
          </p:cNvPr>
          <p:cNvSpPr txBox="1"/>
          <p:nvPr/>
        </p:nvSpPr>
        <p:spPr>
          <a:xfrm>
            <a:off x="888182" y="395926"/>
            <a:ext cx="2036189" cy="369332"/>
          </a:xfrm>
          <a:prstGeom prst="rect">
            <a:avLst/>
          </a:prstGeom>
          <a:noFill/>
        </p:spPr>
        <p:txBody>
          <a:bodyPr wrap="square" rtlCol="0">
            <a:spAutoFit/>
          </a:bodyPr>
          <a:lstStyle/>
          <a:p>
            <a:r>
              <a:rPr lang="en-US" u="sng" dirty="0"/>
              <a:t>OUTPUT:</a:t>
            </a:r>
            <a:endParaRPr lang="en-IN" u="sng" dirty="0"/>
          </a:p>
        </p:txBody>
      </p:sp>
    </p:spTree>
    <p:extLst>
      <p:ext uri="{BB962C8B-B14F-4D97-AF65-F5344CB8AC3E}">
        <p14:creationId xmlns:p14="http://schemas.microsoft.com/office/powerpoint/2010/main" val="3601248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1CBADA-7499-3CE7-CAE2-05E841AB705A}"/>
              </a:ext>
            </a:extLst>
          </p:cNvPr>
          <p:cNvPicPr>
            <a:picLocks noChangeAspect="1"/>
          </p:cNvPicPr>
          <p:nvPr/>
        </p:nvPicPr>
        <p:blipFill>
          <a:blip r:embed="rId2"/>
          <a:stretch>
            <a:fillRect/>
          </a:stretch>
        </p:blipFill>
        <p:spPr>
          <a:xfrm>
            <a:off x="813604" y="263951"/>
            <a:ext cx="10564792" cy="6306532"/>
          </a:xfrm>
          <a:prstGeom prst="rect">
            <a:avLst/>
          </a:prstGeom>
        </p:spPr>
      </p:pic>
    </p:spTree>
    <p:extLst>
      <p:ext uri="{BB962C8B-B14F-4D97-AF65-F5344CB8AC3E}">
        <p14:creationId xmlns:p14="http://schemas.microsoft.com/office/powerpoint/2010/main" val="649618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25C09F0-ECB1-8357-0AC8-3319909FF161}"/>
              </a:ext>
            </a:extLst>
          </p:cNvPr>
          <p:cNvPicPr>
            <a:picLocks noChangeAspect="1"/>
          </p:cNvPicPr>
          <p:nvPr/>
        </p:nvPicPr>
        <p:blipFill>
          <a:blip r:embed="rId2"/>
          <a:stretch>
            <a:fillRect/>
          </a:stretch>
        </p:blipFill>
        <p:spPr>
          <a:xfrm>
            <a:off x="1050979" y="479735"/>
            <a:ext cx="6962930" cy="5044667"/>
          </a:xfrm>
          <a:prstGeom prst="rect">
            <a:avLst/>
          </a:prstGeom>
        </p:spPr>
      </p:pic>
      <p:sp>
        <p:nvSpPr>
          <p:cNvPr id="3" name="AutoShape 2">
            <a:extLst>
              <a:ext uri="{FF2B5EF4-FFF2-40B4-BE49-F238E27FC236}">
                <a16:creationId xmlns:a16="http://schemas.microsoft.com/office/drawing/2014/main" id="{41015BEF-8921-4B5A-3383-5734DCE7AD4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2244286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B14D214-9744-4651-0B13-5D719723E61E}"/>
              </a:ext>
            </a:extLst>
          </p:cNvPr>
          <p:cNvPicPr>
            <a:picLocks noChangeAspect="1"/>
          </p:cNvPicPr>
          <p:nvPr/>
        </p:nvPicPr>
        <p:blipFill>
          <a:blip r:embed="rId2"/>
          <a:srcRect b="2297"/>
          <a:stretch>
            <a:fillRect/>
          </a:stretch>
        </p:blipFill>
        <p:spPr>
          <a:xfrm>
            <a:off x="992319" y="154805"/>
            <a:ext cx="4812603" cy="6014302"/>
          </a:xfrm>
          <a:prstGeom prst="rect">
            <a:avLst/>
          </a:prstGeom>
        </p:spPr>
      </p:pic>
      <p:pic>
        <p:nvPicPr>
          <p:cNvPr id="2" name="Picture 1">
            <a:extLst>
              <a:ext uri="{FF2B5EF4-FFF2-40B4-BE49-F238E27FC236}">
                <a16:creationId xmlns:a16="http://schemas.microsoft.com/office/drawing/2014/main" id="{44E54152-AF99-BBA3-3A80-113FCEEF389E}"/>
              </a:ext>
            </a:extLst>
          </p:cNvPr>
          <p:cNvPicPr>
            <a:picLocks noChangeAspect="1"/>
          </p:cNvPicPr>
          <p:nvPr/>
        </p:nvPicPr>
        <p:blipFill>
          <a:blip r:embed="rId3"/>
          <a:stretch>
            <a:fillRect/>
          </a:stretch>
        </p:blipFill>
        <p:spPr>
          <a:xfrm>
            <a:off x="6503856" y="417234"/>
            <a:ext cx="4810125" cy="866775"/>
          </a:xfrm>
          <a:prstGeom prst="rect">
            <a:avLst/>
          </a:prstGeom>
        </p:spPr>
      </p:pic>
    </p:spTree>
    <p:extLst>
      <p:ext uri="{BB962C8B-B14F-4D97-AF65-F5344CB8AC3E}">
        <p14:creationId xmlns:p14="http://schemas.microsoft.com/office/powerpoint/2010/main" val="937675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FF72165-F2AD-3AA8-4084-977B0259EAAB}"/>
              </a:ext>
            </a:extLst>
          </p:cNvPr>
          <p:cNvSpPr txBox="1"/>
          <p:nvPr/>
        </p:nvSpPr>
        <p:spPr>
          <a:xfrm>
            <a:off x="502763" y="395926"/>
            <a:ext cx="11186474" cy="4001095"/>
          </a:xfrm>
          <a:prstGeom prst="rect">
            <a:avLst/>
          </a:prstGeom>
          <a:noFill/>
        </p:spPr>
        <p:txBody>
          <a:bodyPr wrap="square" rtlCol="0">
            <a:spAutoFit/>
          </a:bodyPr>
          <a:lstStyle/>
          <a:p>
            <a:pPr lvl="0"/>
            <a:r>
              <a:rPr lang="en-IN" sz="2000" b="1" u="sng"/>
              <a:t>KEY INSIGHTS:</a:t>
            </a:r>
          </a:p>
          <a:p>
            <a:pPr lvl="0"/>
            <a:endParaRPr lang="en-IN" b="1"/>
          </a:p>
          <a:p>
            <a:pPr marL="285750" lvl="0" indent="-285750">
              <a:buFont typeface="Wingdings" panose="05000000000000000000" pitchFamily="2" charset="2"/>
              <a:buChar char="Ø"/>
            </a:pPr>
            <a:r>
              <a:rPr lang="en-IN">
                <a:latin typeface="Times New Roman" panose="02020603050405020304" pitchFamily="18" charset="0"/>
                <a:cs typeface="Times New Roman" panose="02020603050405020304" pitchFamily="18" charset="0"/>
              </a:rPr>
              <a:t>A </a:t>
            </a:r>
            <a:r>
              <a:rPr lang="en-IN" b="1">
                <a:latin typeface="Times New Roman" panose="02020603050405020304" pitchFamily="18" charset="0"/>
                <a:cs typeface="Times New Roman" panose="02020603050405020304" pitchFamily="18" charset="0"/>
              </a:rPr>
              <a:t>predictive classification model</a:t>
            </a:r>
            <a:r>
              <a:rPr lang="en-IN">
                <a:latin typeface="Times New Roman" panose="02020603050405020304" pitchFamily="18" charset="0"/>
                <a:cs typeface="Times New Roman" panose="02020603050405020304" pitchFamily="18" charset="0"/>
              </a:rPr>
              <a:t> was developed in </a:t>
            </a:r>
            <a:r>
              <a:rPr lang="en-IN" b="1">
                <a:latin typeface="Times New Roman" panose="02020603050405020304" pitchFamily="18" charset="0"/>
                <a:cs typeface="Times New Roman" panose="02020603050405020304" pitchFamily="18" charset="0"/>
              </a:rPr>
              <a:t>IBM SPSS Modeler</a:t>
            </a:r>
            <a:r>
              <a:rPr lang="en-IN">
                <a:latin typeface="Times New Roman" panose="02020603050405020304" pitchFamily="18" charset="0"/>
                <a:cs typeface="Times New Roman" panose="02020603050405020304" pitchFamily="18" charset="0"/>
              </a:rPr>
              <a:t> to forecast </a:t>
            </a:r>
            <a:r>
              <a:rPr lang="en-IN" b="1">
                <a:latin typeface="Times New Roman" panose="02020603050405020304" pitchFamily="18" charset="0"/>
                <a:cs typeface="Times New Roman" panose="02020603050405020304" pitchFamily="18" charset="0"/>
              </a:rPr>
              <a:t>employee attrition</a:t>
            </a:r>
            <a:r>
              <a:rPr lang="en-IN">
                <a:latin typeface="Times New Roman" panose="02020603050405020304" pitchFamily="18" charset="0"/>
                <a:cs typeface="Times New Roman" panose="02020603050405020304" pitchFamily="18" charset="0"/>
              </a:rPr>
              <a:t>.</a:t>
            </a:r>
          </a:p>
          <a:p>
            <a:pPr lvl="0"/>
            <a:r>
              <a:rPr lang="en-IN">
                <a:latin typeface="Times New Roman" panose="02020603050405020304" pitchFamily="18" charset="0"/>
                <a:cs typeface="Times New Roman" panose="02020603050405020304" pitchFamily="18" charset="0"/>
              </a:rPr>
              <a:t>The </a:t>
            </a:r>
            <a:r>
              <a:rPr lang="en-IN" b="1">
                <a:latin typeface="Times New Roman" panose="02020603050405020304" pitchFamily="18" charset="0"/>
                <a:cs typeface="Times New Roman" panose="02020603050405020304" pitchFamily="18" charset="0"/>
              </a:rPr>
              <a:t>C5.0 Decision Tree algorithm</a:t>
            </a:r>
            <a:r>
              <a:rPr lang="en-IN">
                <a:latin typeface="Times New Roman" panose="02020603050405020304" pitchFamily="18" charset="0"/>
                <a:cs typeface="Times New Roman" panose="02020603050405020304" pitchFamily="18" charset="0"/>
              </a:rPr>
              <a:t> was used due to its </a:t>
            </a:r>
            <a:r>
              <a:rPr lang="en-IN" b="1">
                <a:latin typeface="Times New Roman" panose="02020603050405020304" pitchFamily="18" charset="0"/>
                <a:cs typeface="Times New Roman" panose="02020603050405020304" pitchFamily="18" charset="0"/>
              </a:rPr>
              <a:t>interpretability</a:t>
            </a:r>
            <a:r>
              <a:rPr lang="en-IN">
                <a:latin typeface="Times New Roman" panose="02020603050405020304" pitchFamily="18" charset="0"/>
                <a:cs typeface="Times New Roman" panose="02020603050405020304" pitchFamily="18" charset="0"/>
              </a:rPr>
              <a:t> and ability to handle </a:t>
            </a:r>
            <a:r>
              <a:rPr lang="en-IN" b="1">
                <a:latin typeface="Times New Roman" panose="02020603050405020304" pitchFamily="18" charset="0"/>
                <a:cs typeface="Times New Roman" panose="02020603050405020304" pitchFamily="18" charset="0"/>
              </a:rPr>
              <a:t>both categorical and continuous data</a:t>
            </a:r>
            <a:r>
              <a:rPr lang="en-IN">
                <a:latin typeface="Times New Roman" panose="02020603050405020304" pitchFamily="18" charset="0"/>
                <a:cs typeface="Times New Roman" panose="02020603050405020304" pitchFamily="18" charset="0"/>
              </a:rPr>
              <a:t>.</a:t>
            </a:r>
          </a:p>
          <a:p>
            <a:pPr marL="285750" lvl="0" indent="-285750">
              <a:buFont typeface="Wingdings" panose="05000000000000000000" pitchFamily="2" charset="2"/>
              <a:buChar char="Ø"/>
            </a:pPr>
            <a:r>
              <a:rPr lang="en-IN">
                <a:latin typeface="Times New Roman" panose="02020603050405020304" pitchFamily="18" charset="0"/>
                <a:cs typeface="Times New Roman" panose="02020603050405020304" pitchFamily="18" charset="0"/>
              </a:rPr>
              <a:t>The model achieved an </a:t>
            </a:r>
            <a:r>
              <a:rPr lang="en-IN" b="1">
                <a:latin typeface="Times New Roman" panose="02020603050405020304" pitchFamily="18" charset="0"/>
                <a:cs typeface="Times New Roman" panose="02020603050405020304" pitchFamily="18" charset="0"/>
              </a:rPr>
              <a:t>accuracy of 86.69%</a:t>
            </a:r>
            <a:r>
              <a:rPr lang="en-IN">
                <a:latin typeface="Times New Roman" panose="02020603050405020304" pitchFamily="18" charset="0"/>
                <a:cs typeface="Times New Roman" panose="02020603050405020304" pitchFamily="18" charset="0"/>
              </a:rPr>
              <a:t> on </a:t>
            </a:r>
            <a:r>
              <a:rPr lang="en-IN" b="1">
                <a:latin typeface="Times New Roman" panose="02020603050405020304" pitchFamily="18" charset="0"/>
                <a:cs typeface="Times New Roman" panose="02020603050405020304" pitchFamily="18" charset="0"/>
              </a:rPr>
              <a:t>test data</a:t>
            </a:r>
            <a:r>
              <a:rPr lang="en-IN">
                <a:latin typeface="Times New Roman" panose="02020603050405020304" pitchFamily="18" charset="0"/>
                <a:cs typeface="Times New Roman" panose="02020603050405020304" pitchFamily="18" charset="0"/>
              </a:rPr>
              <a:t>.</a:t>
            </a:r>
          </a:p>
          <a:p>
            <a:pPr marL="285750" lvl="0" indent="-285750">
              <a:buFont typeface="Wingdings" panose="05000000000000000000" pitchFamily="2" charset="2"/>
              <a:buChar char="Ø"/>
            </a:pPr>
            <a:r>
              <a:rPr lang="en-IN">
                <a:latin typeface="Times New Roman" panose="02020603050405020304" pitchFamily="18" charset="0"/>
                <a:cs typeface="Times New Roman" panose="02020603050405020304" pitchFamily="18" charset="0"/>
              </a:rPr>
              <a:t>Key factors influencing attrition included:</a:t>
            </a:r>
          </a:p>
          <a:p>
            <a:pPr marL="742950" lvl="1" indent="-285750">
              <a:buFont typeface="Arial" panose="020B0604020202020204" pitchFamily="34" charset="0"/>
              <a:buChar char="•"/>
            </a:pPr>
            <a:r>
              <a:rPr lang="en-IN" b="1">
                <a:latin typeface="Times New Roman" panose="02020603050405020304" pitchFamily="18" charset="0"/>
                <a:cs typeface="Times New Roman" panose="02020603050405020304" pitchFamily="18" charset="0"/>
              </a:rPr>
              <a:t>OverTime</a:t>
            </a:r>
            <a:endParaRPr lang="en-IN">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b="1">
                <a:latin typeface="Times New Roman" panose="02020603050405020304" pitchFamily="18" charset="0"/>
                <a:cs typeface="Times New Roman" panose="02020603050405020304" pitchFamily="18" charset="0"/>
              </a:rPr>
              <a:t>Low Job Satisfaction</a:t>
            </a:r>
            <a:endParaRPr lang="en-IN">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IN" b="1">
                <a:latin typeface="Times New Roman" panose="02020603050405020304" pitchFamily="18" charset="0"/>
                <a:cs typeface="Times New Roman" panose="02020603050405020304" pitchFamily="18" charset="0"/>
              </a:rPr>
              <a:t>Low Total Working Years</a:t>
            </a:r>
            <a:endParaRPr lang="en-IN">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r>
              <a:rPr lang="en-IN">
                <a:latin typeface="Times New Roman" panose="02020603050405020304" pitchFamily="18" charset="0"/>
                <a:cs typeface="Times New Roman" panose="02020603050405020304" pitchFamily="18" charset="0"/>
              </a:rPr>
              <a:t>The final </a:t>
            </a:r>
            <a:r>
              <a:rPr lang="en-IN" b="1">
                <a:latin typeface="Times New Roman" panose="02020603050405020304" pitchFamily="18" charset="0"/>
                <a:cs typeface="Times New Roman" panose="02020603050405020304" pitchFamily="18" charset="0"/>
              </a:rPr>
              <a:t>model nugget</a:t>
            </a:r>
            <a:r>
              <a:rPr lang="en-IN">
                <a:latin typeface="Times New Roman" panose="02020603050405020304" pitchFamily="18" charset="0"/>
                <a:cs typeface="Times New Roman" panose="02020603050405020304" pitchFamily="18" charset="0"/>
              </a:rPr>
              <a:t> generates two key fields for scoring:</a:t>
            </a:r>
          </a:p>
          <a:p>
            <a:pPr marL="742950" lvl="1" indent="-285750">
              <a:buFont typeface="Arial" panose="020B0604020202020204" pitchFamily="34" charset="0"/>
              <a:buChar char="•"/>
            </a:pPr>
            <a:r>
              <a:rPr lang="en-IN" b="1">
                <a:latin typeface="Times New Roman" panose="02020603050405020304" pitchFamily="18" charset="0"/>
                <a:cs typeface="Times New Roman" panose="02020603050405020304" pitchFamily="18" charset="0"/>
              </a:rPr>
              <a:t>$C-Attrition:</a:t>
            </a:r>
            <a:r>
              <a:rPr lang="en-IN">
                <a:latin typeface="Times New Roman" panose="02020603050405020304" pitchFamily="18" charset="0"/>
                <a:cs typeface="Times New Roman" panose="02020603050405020304" pitchFamily="18" charset="0"/>
              </a:rPr>
              <a:t> Predicted outcome (Yes/No)</a:t>
            </a:r>
          </a:p>
          <a:p>
            <a:pPr marL="742950" lvl="1" indent="-285750">
              <a:buFont typeface="Arial" panose="020B0604020202020204" pitchFamily="34" charset="0"/>
              <a:buChar char="•"/>
            </a:pPr>
            <a:r>
              <a:rPr lang="en-IN" b="1">
                <a:latin typeface="Times New Roman" panose="02020603050405020304" pitchFamily="18" charset="0"/>
                <a:cs typeface="Times New Roman" panose="02020603050405020304" pitchFamily="18" charset="0"/>
              </a:rPr>
              <a:t>$CC-Attrition:</a:t>
            </a:r>
            <a:r>
              <a:rPr lang="en-IN">
                <a:latin typeface="Times New Roman" panose="02020603050405020304" pitchFamily="18" charset="0"/>
                <a:cs typeface="Times New Roman" panose="02020603050405020304" pitchFamily="18" charset="0"/>
              </a:rPr>
              <a:t> Confidence or probability of the predicted outcome</a:t>
            </a:r>
          </a:p>
          <a:p>
            <a:endParaRPr lang="en-IN"/>
          </a:p>
        </p:txBody>
      </p:sp>
    </p:spTree>
    <p:extLst>
      <p:ext uri="{BB962C8B-B14F-4D97-AF65-F5344CB8AC3E}">
        <p14:creationId xmlns:p14="http://schemas.microsoft.com/office/powerpoint/2010/main" val="1168528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6B3F6-6624-ED50-3A05-98791FA7618F}"/>
              </a:ext>
            </a:extLst>
          </p:cNvPr>
          <p:cNvSpPr>
            <a:spLocks noGrp="1"/>
          </p:cNvSpPr>
          <p:nvPr>
            <p:ph type="title"/>
          </p:nvPr>
        </p:nvSpPr>
        <p:spPr>
          <a:xfrm>
            <a:off x="838200" y="236539"/>
            <a:ext cx="10515600" cy="1284566"/>
          </a:xfrm>
        </p:spPr>
        <p:txBody>
          <a:bodyPr>
            <a:normAutofit/>
          </a:bodyPr>
          <a:lstStyle/>
          <a:p>
            <a:r>
              <a:rPr lang="en-US" u="sng" dirty="0"/>
              <a:t>REGRESSION MODEL: EMPLOYEE MONTHLY INCOME</a:t>
            </a:r>
            <a:endParaRPr lang="en-IN" u="sng" dirty="0"/>
          </a:p>
        </p:txBody>
      </p:sp>
      <p:sp>
        <p:nvSpPr>
          <p:cNvPr id="3" name="TextBox 2">
            <a:extLst>
              <a:ext uri="{FF2B5EF4-FFF2-40B4-BE49-F238E27FC236}">
                <a16:creationId xmlns:a16="http://schemas.microsoft.com/office/drawing/2014/main" id="{DBF2BE23-E327-B17C-65E2-EEF9EB081B35}"/>
              </a:ext>
            </a:extLst>
          </p:cNvPr>
          <p:cNvSpPr txBox="1"/>
          <p:nvPr/>
        </p:nvSpPr>
        <p:spPr>
          <a:xfrm>
            <a:off x="838200" y="1743958"/>
            <a:ext cx="10515600" cy="2862322"/>
          </a:xfrm>
          <a:prstGeom prst="rect">
            <a:avLst/>
          </a:prstGeom>
          <a:noFill/>
        </p:spPr>
        <p:txBody>
          <a:bodyPr wrap="square" rtlCol="0">
            <a:spAutoFit/>
          </a:bodyPr>
          <a:lstStyle/>
          <a:p>
            <a:pPr lvl="0"/>
            <a:r>
              <a:rPr lang="en-IN" b="1" dirty="0">
                <a:latin typeface="Times New Roman" panose="02020603050405020304" pitchFamily="18" charset="0"/>
                <a:cs typeface="Times New Roman" panose="02020603050405020304" pitchFamily="18" charset="0"/>
              </a:rPr>
              <a:t>Regression analysis</a:t>
            </a:r>
            <a:r>
              <a:rPr lang="en-IN" dirty="0">
                <a:latin typeface="Times New Roman" panose="02020603050405020304" pitchFamily="18" charset="0"/>
                <a:cs typeface="Times New Roman" panose="02020603050405020304" pitchFamily="18" charset="0"/>
              </a:rPr>
              <a:t> in </a:t>
            </a:r>
            <a:r>
              <a:rPr lang="en-IN" b="1" dirty="0">
                <a:latin typeface="Times New Roman" panose="02020603050405020304" pitchFamily="18" charset="0"/>
                <a:cs typeface="Times New Roman" panose="02020603050405020304" pitchFamily="18" charset="0"/>
              </a:rPr>
              <a:t>IBM SPSS Modeler</a:t>
            </a:r>
            <a:r>
              <a:rPr lang="en-IN" dirty="0">
                <a:latin typeface="Times New Roman" panose="02020603050405020304" pitchFamily="18" charset="0"/>
                <a:cs typeface="Times New Roman" panose="02020603050405020304" pitchFamily="18" charset="0"/>
              </a:rPr>
              <a:t> is a </a:t>
            </a:r>
            <a:r>
              <a:rPr lang="en-IN" b="1" dirty="0">
                <a:latin typeface="Times New Roman" panose="02020603050405020304" pitchFamily="18" charset="0"/>
                <a:cs typeface="Times New Roman" panose="02020603050405020304" pitchFamily="18" charset="0"/>
              </a:rPr>
              <a:t>supervised learning technique</a:t>
            </a:r>
            <a:r>
              <a:rPr lang="en-IN" dirty="0">
                <a:latin typeface="Times New Roman" panose="02020603050405020304" pitchFamily="18" charset="0"/>
                <a:cs typeface="Times New Roman" panose="02020603050405020304" pitchFamily="18" charset="0"/>
              </a:rPr>
              <a:t> used to </a:t>
            </a:r>
            <a:r>
              <a:rPr lang="en-IN" b="1" dirty="0">
                <a:latin typeface="Times New Roman" panose="02020603050405020304" pitchFamily="18" charset="0"/>
                <a:cs typeface="Times New Roman" panose="02020603050405020304" pitchFamily="18" charset="0"/>
              </a:rPr>
              <a:t>predict continuous numeric outcomes</a:t>
            </a:r>
            <a:r>
              <a:rPr lang="en-IN" dirty="0">
                <a:latin typeface="Times New Roman" panose="02020603050405020304" pitchFamily="18" charset="0"/>
                <a:cs typeface="Times New Roman" panose="02020603050405020304" pitchFamily="18" charset="0"/>
              </a:rPr>
              <a:t> (e.g., salary, sales, age, performance score).</a:t>
            </a:r>
          </a:p>
          <a:p>
            <a:pPr lvl="0"/>
            <a:r>
              <a:rPr lang="en-IN" dirty="0">
                <a:latin typeface="Times New Roman" panose="02020603050405020304" pitchFamily="18" charset="0"/>
                <a:cs typeface="Times New Roman" panose="02020603050405020304" pitchFamily="18" charset="0"/>
              </a:rPr>
              <a:t>It relies on </a:t>
            </a:r>
            <a:r>
              <a:rPr lang="en-IN" b="1" dirty="0">
                <a:latin typeface="Times New Roman" panose="02020603050405020304" pitchFamily="18" charset="0"/>
                <a:cs typeface="Times New Roman" panose="02020603050405020304" pitchFamily="18" charset="0"/>
              </a:rPr>
              <a:t>predictor (independent) variables</a:t>
            </a:r>
            <a:r>
              <a:rPr lang="en-IN" dirty="0">
                <a:latin typeface="Times New Roman" panose="02020603050405020304" pitchFamily="18" charset="0"/>
                <a:cs typeface="Times New Roman" panose="02020603050405020304" pitchFamily="18" charset="0"/>
              </a:rPr>
              <a:t> to estimate the </a:t>
            </a:r>
            <a:r>
              <a:rPr lang="en-IN" b="1" dirty="0">
                <a:latin typeface="Times New Roman" panose="02020603050405020304" pitchFamily="18" charset="0"/>
                <a:cs typeface="Times New Roman" panose="02020603050405020304" pitchFamily="18" charset="0"/>
              </a:rPr>
              <a:t>dependent (target) variable</a:t>
            </a:r>
            <a:r>
              <a:rPr lang="en-IN" dirty="0">
                <a:latin typeface="Times New Roman" panose="02020603050405020304" pitchFamily="18" charset="0"/>
                <a:cs typeface="Times New Roman" panose="02020603050405020304" pitchFamily="18" charset="0"/>
              </a:rPr>
              <a:t>.</a:t>
            </a:r>
          </a:p>
          <a:p>
            <a:pPr lvl="0"/>
            <a:r>
              <a:rPr lang="en-IN" b="1" dirty="0">
                <a:latin typeface="Times New Roman" panose="02020603050405020304" pitchFamily="18" charset="0"/>
                <a:cs typeface="Times New Roman" panose="02020603050405020304" pitchFamily="18" charset="0"/>
              </a:rPr>
              <a:t>Linear Regression</a:t>
            </a:r>
            <a:r>
              <a:rPr lang="en-IN" dirty="0">
                <a:latin typeface="Times New Roman" panose="02020603050405020304" pitchFamily="18" charset="0"/>
                <a:cs typeface="Times New Roman" panose="02020603050405020304" pitchFamily="18" charset="0"/>
              </a:rPr>
              <a:t> in SPSS Modeler is suitable for </a:t>
            </a:r>
            <a:r>
              <a:rPr lang="en-IN" b="1" dirty="0">
                <a:latin typeface="Times New Roman" panose="02020603050405020304" pitchFamily="18" charset="0"/>
                <a:cs typeface="Times New Roman" panose="02020603050405020304" pitchFamily="18" charset="0"/>
              </a:rPr>
              <a:t>explaining and predicting numeric trends</a:t>
            </a:r>
            <a:r>
              <a:rPr lang="en-IN" dirty="0">
                <a:latin typeface="Times New Roman" panose="02020603050405020304" pitchFamily="18" charset="0"/>
                <a:cs typeface="Times New Roman" panose="02020603050405020304" pitchFamily="18" charset="0"/>
              </a:rPr>
              <a:t> using </a:t>
            </a:r>
            <a:r>
              <a:rPr lang="en-IN" b="1" dirty="0">
                <a:latin typeface="Times New Roman" panose="02020603050405020304" pitchFamily="18" charset="0"/>
                <a:cs typeface="Times New Roman" panose="02020603050405020304" pitchFamily="18" charset="0"/>
              </a:rPr>
              <a:t>data-driven relationships</a:t>
            </a:r>
            <a:r>
              <a:rPr lang="en-IN" dirty="0">
                <a:latin typeface="Times New Roman" panose="02020603050405020304" pitchFamily="18" charset="0"/>
                <a:cs typeface="Times New Roman" panose="02020603050405020304" pitchFamily="18" charset="0"/>
              </a:rPr>
              <a:t>.</a:t>
            </a:r>
          </a:p>
          <a:p>
            <a:pPr lvl="0"/>
            <a:r>
              <a:rPr lang="en-IN" dirty="0">
                <a:latin typeface="Times New Roman" panose="02020603050405020304" pitchFamily="18" charset="0"/>
                <a:cs typeface="Times New Roman" panose="02020603050405020304" pitchFamily="18" charset="0"/>
              </a:rPr>
              <a:t>The technique assumes a </a:t>
            </a:r>
            <a:r>
              <a:rPr lang="en-IN" b="1" dirty="0">
                <a:latin typeface="Times New Roman" panose="02020603050405020304" pitchFamily="18" charset="0"/>
                <a:cs typeface="Times New Roman" panose="02020603050405020304" pitchFamily="18" charset="0"/>
              </a:rPr>
              <a:t>linear relationship</a:t>
            </a:r>
            <a:r>
              <a:rPr lang="en-IN" dirty="0">
                <a:latin typeface="Times New Roman" panose="02020603050405020304" pitchFamily="18" charset="0"/>
                <a:cs typeface="Times New Roman" panose="02020603050405020304" pitchFamily="18" charset="0"/>
              </a:rPr>
              <a:t> between the </a:t>
            </a:r>
            <a:r>
              <a:rPr lang="en-IN" b="1" dirty="0">
                <a:latin typeface="Times New Roman" panose="02020603050405020304" pitchFamily="18" charset="0"/>
                <a:cs typeface="Times New Roman" panose="02020603050405020304" pitchFamily="18" charset="0"/>
              </a:rPr>
              <a:t>input variables</a:t>
            </a:r>
            <a:r>
              <a:rPr lang="en-IN" dirty="0">
                <a:latin typeface="Times New Roman" panose="02020603050405020304" pitchFamily="18" charset="0"/>
                <a:cs typeface="Times New Roman" panose="02020603050405020304" pitchFamily="18" charset="0"/>
              </a:rPr>
              <a:t> and the </a:t>
            </a:r>
            <a:r>
              <a:rPr lang="en-IN" b="1" dirty="0">
                <a:latin typeface="Times New Roman" panose="02020603050405020304" pitchFamily="18" charset="0"/>
                <a:cs typeface="Times New Roman" panose="02020603050405020304" pitchFamily="18" charset="0"/>
              </a:rPr>
              <a:t>target variable</a:t>
            </a:r>
            <a:r>
              <a:rPr lang="en-IN" dirty="0">
                <a:latin typeface="Times New Roman" panose="02020603050405020304" pitchFamily="18" charset="0"/>
                <a:cs typeface="Times New Roman" panose="02020603050405020304" pitchFamily="18" charset="0"/>
              </a:rPr>
              <a:t>.</a:t>
            </a:r>
          </a:p>
          <a:p>
            <a:pPr lvl="0"/>
            <a:r>
              <a:rPr lang="en-IN" dirty="0">
                <a:latin typeface="Times New Roman" panose="02020603050405020304" pitchFamily="18" charset="0"/>
                <a:cs typeface="Times New Roman" panose="02020603050405020304" pitchFamily="18" charset="0"/>
              </a:rPr>
              <a:t>It helps in understanding how changes in predictors </a:t>
            </a:r>
            <a:r>
              <a:rPr lang="en-IN" b="1" dirty="0">
                <a:latin typeface="Times New Roman" panose="02020603050405020304" pitchFamily="18" charset="0"/>
                <a:cs typeface="Times New Roman" panose="02020603050405020304" pitchFamily="18" charset="0"/>
              </a:rPr>
              <a:t>influence the numeric outcome</a:t>
            </a:r>
            <a:r>
              <a:rPr lang="en-IN" dirty="0">
                <a:latin typeface="Times New Roman" panose="02020603050405020304" pitchFamily="18" charset="0"/>
                <a:cs typeface="Times New Roman" panose="02020603050405020304" pitchFamily="18" charset="0"/>
              </a:rPr>
              <a:t>.</a:t>
            </a:r>
          </a:p>
          <a:p>
            <a:pPr lvl="0"/>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endParaRPr lang="en-IN" dirty="0"/>
          </a:p>
        </p:txBody>
      </p:sp>
      <p:pic>
        <p:nvPicPr>
          <p:cNvPr id="5" name="Picture 4">
            <a:extLst>
              <a:ext uri="{FF2B5EF4-FFF2-40B4-BE49-F238E27FC236}">
                <a16:creationId xmlns:a16="http://schemas.microsoft.com/office/drawing/2014/main" id="{C9AAB004-A1CA-1896-EE5A-FFB580CFA936}"/>
              </a:ext>
            </a:extLst>
          </p:cNvPr>
          <p:cNvPicPr>
            <a:picLocks noChangeAspect="1"/>
          </p:cNvPicPr>
          <p:nvPr/>
        </p:nvPicPr>
        <p:blipFill>
          <a:blip r:embed="rId2"/>
          <a:stretch>
            <a:fillRect/>
          </a:stretch>
        </p:blipFill>
        <p:spPr>
          <a:xfrm>
            <a:off x="838200" y="3854694"/>
            <a:ext cx="6175342" cy="2766767"/>
          </a:xfrm>
          <a:prstGeom prst="rect">
            <a:avLst/>
          </a:prstGeom>
        </p:spPr>
      </p:pic>
    </p:spTree>
    <p:extLst>
      <p:ext uri="{BB962C8B-B14F-4D97-AF65-F5344CB8AC3E}">
        <p14:creationId xmlns:p14="http://schemas.microsoft.com/office/powerpoint/2010/main" val="3259889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EBD247C-8C68-8545-E1A4-D349CB951C77}"/>
              </a:ext>
            </a:extLst>
          </p:cNvPr>
          <p:cNvSpPr txBox="1"/>
          <p:nvPr/>
        </p:nvSpPr>
        <p:spPr>
          <a:xfrm>
            <a:off x="865204" y="300667"/>
            <a:ext cx="6094428" cy="369332"/>
          </a:xfrm>
          <a:prstGeom prst="rect">
            <a:avLst/>
          </a:prstGeom>
          <a:noFill/>
        </p:spPr>
        <p:txBody>
          <a:bodyPr wrap="square">
            <a:spAutoFit/>
          </a:bodyPr>
          <a:lstStyle/>
          <a:p>
            <a:r>
              <a:rPr lang="en-US" u="sng"/>
              <a:t>OUTPUT:</a:t>
            </a:r>
            <a:endParaRPr lang="en-IN" u="sng"/>
          </a:p>
        </p:txBody>
      </p:sp>
      <p:pic>
        <p:nvPicPr>
          <p:cNvPr id="7" name="Picture 6">
            <a:extLst>
              <a:ext uri="{FF2B5EF4-FFF2-40B4-BE49-F238E27FC236}">
                <a16:creationId xmlns:a16="http://schemas.microsoft.com/office/drawing/2014/main" id="{0473B7EE-CBCB-2638-BCA1-BA44CA3371DD}"/>
              </a:ext>
            </a:extLst>
          </p:cNvPr>
          <p:cNvPicPr>
            <a:picLocks noChangeAspect="1"/>
          </p:cNvPicPr>
          <p:nvPr/>
        </p:nvPicPr>
        <p:blipFill>
          <a:blip r:embed="rId2"/>
          <a:stretch>
            <a:fillRect/>
          </a:stretch>
        </p:blipFill>
        <p:spPr>
          <a:xfrm>
            <a:off x="1116930" y="1238250"/>
            <a:ext cx="6648450" cy="4381500"/>
          </a:xfrm>
          <a:prstGeom prst="rect">
            <a:avLst/>
          </a:prstGeom>
        </p:spPr>
      </p:pic>
    </p:spTree>
    <p:extLst>
      <p:ext uri="{BB962C8B-B14F-4D97-AF65-F5344CB8AC3E}">
        <p14:creationId xmlns:p14="http://schemas.microsoft.com/office/powerpoint/2010/main" val="11328342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CED092D-F377-AA70-2DD5-D1B10CE475EC}"/>
              </a:ext>
            </a:extLst>
          </p:cNvPr>
          <p:cNvPicPr>
            <a:picLocks noChangeAspect="1"/>
          </p:cNvPicPr>
          <p:nvPr/>
        </p:nvPicPr>
        <p:blipFill>
          <a:blip r:embed="rId2"/>
          <a:stretch>
            <a:fillRect/>
          </a:stretch>
        </p:blipFill>
        <p:spPr>
          <a:xfrm>
            <a:off x="906691" y="438150"/>
            <a:ext cx="5457825" cy="5981700"/>
          </a:xfrm>
          <a:prstGeom prst="rect">
            <a:avLst/>
          </a:prstGeom>
        </p:spPr>
      </p:pic>
    </p:spTree>
    <p:extLst>
      <p:ext uri="{BB962C8B-B14F-4D97-AF65-F5344CB8AC3E}">
        <p14:creationId xmlns:p14="http://schemas.microsoft.com/office/powerpoint/2010/main" val="1455923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26E2A5-E1BF-C5E8-40F0-458CDA3B0018}"/>
              </a:ext>
            </a:extLst>
          </p:cNvPr>
          <p:cNvSpPr txBox="1"/>
          <p:nvPr/>
        </p:nvSpPr>
        <p:spPr>
          <a:xfrm>
            <a:off x="427348" y="518474"/>
            <a:ext cx="11227324" cy="646331"/>
          </a:xfrm>
          <a:prstGeom prst="rect">
            <a:avLst/>
          </a:prstGeom>
          <a:noFill/>
        </p:spPr>
        <p:txBody>
          <a:bodyPr wrap="square" rtlCol="0">
            <a:spAutoFit/>
          </a:bodyPr>
          <a:lstStyle/>
          <a:p>
            <a:pPr lvl="0"/>
            <a:r>
              <a:rPr lang="en-IN" b="1" u="sng"/>
              <a:t>KEY INSIGHTS:</a:t>
            </a:r>
          </a:p>
          <a:p>
            <a:pPr lvl="0"/>
            <a:endParaRPr lang="en-IN" b="1" u="sng"/>
          </a:p>
        </p:txBody>
      </p:sp>
      <p:sp>
        <p:nvSpPr>
          <p:cNvPr id="4" name="TextBox 3">
            <a:extLst>
              <a:ext uri="{FF2B5EF4-FFF2-40B4-BE49-F238E27FC236}">
                <a16:creationId xmlns:a16="http://schemas.microsoft.com/office/drawing/2014/main" id="{6760CF4E-2263-C9CB-80D1-76A2E0361661}"/>
              </a:ext>
            </a:extLst>
          </p:cNvPr>
          <p:cNvSpPr txBox="1"/>
          <p:nvPr/>
        </p:nvSpPr>
        <p:spPr>
          <a:xfrm>
            <a:off x="537328" y="1164805"/>
            <a:ext cx="10991653" cy="3970318"/>
          </a:xfrm>
          <a:prstGeom prst="rect">
            <a:avLst/>
          </a:prstGeom>
          <a:noFill/>
        </p:spPr>
        <p:txBody>
          <a:bodyPr wrap="square" rtlCol="0">
            <a:spAutoFit/>
          </a:bodyPr>
          <a:lstStyle/>
          <a:p>
            <a:pPr marL="285750" lvl="0" indent="-285750">
              <a:buFont typeface="Wingdings" panose="05000000000000000000" pitchFamily="2" charset="2"/>
              <a:buChar char="Ø"/>
            </a:pPr>
            <a:r>
              <a:rPr lang="en-IN" b="1"/>
              <a:t>Target Variable</a:t>
            </a:r>
            <a:r>
              <a:rPr lang="en-IN"/>
              <a:t>: The model is predicting MonthlyIncome.</a:t>
            </a:r>
          </a:p>
          <a:p>
            <a:pPr lvl="0"/>
            <a:r>
              <a:rPr lang="en-IN"/>
              <a:t> </a:t>
            </a:r>
          </a:p>
          <a:p>
            <a:pPr marL="285750" lvl="0" indent="-285750">
              <a:buFont typeface="Wingdings" panose="05000000000000000000" pitchFamily="2" charset="2"/>
              <a:buChar char="Ø"/>
            </a:pPr>
            <a:r>
              <a:rPr lang="en-IN" b="1"/>
              <a:t>Data Handling</a:t>
            </a:r>
            <a:r>
              <a:rPr lang="en-IN"/>
              <a:t>: Automatic data preparation was turned on, meaning missing values, categorical encoding, and normalization were handled automatically.</a:t>
            </a:r>
          </a:p>
          <a:p>
            <a:pPr lvl="0"/>
            <a:r>
              <a:rPr lang="en-IN"/>
              <a:t> </a:t>
            </a:r>
          </a:p>
          <a:p>
            <a:pPr marL="285750" lvl="0" indent="-285750">
              <a:buFont typeface="Wingdings" panose="05000000000000000000" pitchFamily="2" charset="2"/>
              <a:buChar char="Ø"/>
            </a:pPr>
            <a:r>
              <a:rPr lang="en-IN" b="1"/>
              <a:t>Model Selection Method</a:t>
            </a:r>
            <a:r>
              <a:rPr lang="en-IN"/>
              <a:t>:Forward Stepwise selection was used, which iteratively adds predictors that improve the model performance.</a:t>
            </a:r>
          </a:p>
          <a:p>
            <a:pPr lvl="0"/>
            <a:r>
              <a:rPr lang="en-IN"/>
              <a:t> </a:t>
            </a:r>
          </a:p>
          <a:p>
            <a:pPr marL="285750" lvl="0" indent="-285750">
              <a:buFont typeface="Wingdings" panose="05000000000000000000" pitchFamily="2" charset="2"/>
              <a:buChar char="Ø"/>
            </a:pPr>
            <a:r>
              <a:rPr lang="en-IN"/>
              <a:t> </a:t>
            </a:r>
            <a:r>
              <a:rPr lang="en-IN" b="1"/>
              <a:t>Information Criterion</a:t>
            </a:r>
            <a:r>
              <a:rPr lang="en-IN"/>
              <a:t>: The value is 14,224.308. Lower values indicate a better-fitting model relative to alternatives.</a:t>
            </a:r>
          </a:p>
          <a:p>
            <a:pPr lvl="0"/>
            <a:r>
              <a:rPr lang="en-IN"/>
              <a:t> </a:t>
            </a:r>
          </a:p>
          <a:p>
            <a:pPr marL="285750" lvl="0" indent="-285750">
              <a:buFont typeface="Wingdings" panose="05000000000000000000" pitchFamily="2" charset="2"/>
              <a:buChar char="Ø"/>
            </a:pPr>
            <a:r>
              <a:rPr lang="en-IN" b="1"/>
              <a:t>Model Accuracy</a:t>
            </a:r>
            <a:r>
              <a:rPr lang="en-IN"/>
              <a:t>:The model achieved 94.6% accuracy, indicating a very strong predictive performance for MonthlyIncome.</a:t>
            </a:r>
          </a:p>
          <a:p>
            <a:endParaRPr lang="en-IN"/>
          </a:p>
        </p:txBody>
      </p:sp>
    </p:spTree>
    <p:extLst>
      <p:ext uri="{BB962C8B-B14F-4D97-AF65-F5344CB8AC3E}">
        <p14:creationId xmlns:p14="http://schemas.microsoft.com/office/powerpoint/2010/main" val="10527970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CC664-E404-2059-D989-1D8DAD89D6F8}"/>
              </a:ext>
            </a:extLst>
          </p:cNvPr>
          <p:cNvSpPr>
            <a:spLocks noGrp="1"/>
          </p:cNvSpPr>
          <p:nvPr>
            <p:ph type="title"/>
          </p:nvPr>
        </p:nvSpPr>
        <p:spPr>
          <a:xfrm>
            <a:off x="838200" y="497100"/>
            <a:ext cx="10515600" cy="1325563"/>
          </a:xfrm>
        </p:spPr>
        <p:txBody>
          <a:bodyPr>
            <a:normAutofit/>
          </a:bodyPr>
          <a:lstStyle/>
          <a:p>
            <a:r>
              <a:rPr lang="en-US" u="sng"/>
              <a:t>CLUSTERING MODEL: EMPLOYEE SEGMENTATION</a:t>
            </a:r>
            <a:endParaRPr lang="en-IN" u="sng"/>
          </a:p>
        </p:txBody>
      </p:sp>
      <p:pic>
        <p:nvPicPr>
          <p:cNvPr id="4" name="Picture 3">
            <a:extLst>
              <a:ext uri="{FF2B5EF4-FFF2-40B4-BE49-F238E27FC236}">
                <a16:creationId xmlns:a16="http://schemas.microsoft.com/office/drawing/2014/main" id="{057600BF-FBA2-9660-649C-9DFA670390D8}"/>
              </a:ext>
            </a:extLst>
          </p:cNvPr>
          <p:cNvPicPr>
            <a:picLocks noChangeAspect="1"/>
          </p:cNvPicPr>
          <p:nvPr/>
        </p:nvPicPr>
        <p:blipFill>
          <a:blip r:embed="rId2"/>
          <a:stretch>
            <a:fillRect/>
          </a:stretch>
        </p:blipFill>
        <p:spPr>
          <a:xfrm>
            <a:off x="838200" y="3713453"/>
            <a:ext cx="6058746" cy="2391109"/>
          </a:xfrm>
          <a:prstGeom prst="rect">
            <a:avLst/>
          </a:prstGeom>
        </p:spPr>
      </p:pic>
      <p:sp>
        <p:nvSpPr>
          <p:cNvPr id="6" name="TextBox 5">
            <a:extLst>
              <a:ext uri="{FF2B5EF4-FFF2-40B4-BE49-F238E27FC236}">
                <a16:creationId xmlns:a16="http://schemas.microsoft.com/office/drawing/2014/main" id="{C4D5BF56-933E-29A8-E210-0DE64EE790D4}"/>
              </a:ext>
            </a:extLst>
          </p:cNvPr>
          <p:cNvSpPr txBox="1"/>
          <p:nvPr/>
        </p:nvSpPr>
        <p:spPr>
          <a:xfrm>
            <a:off x="955023" y="2111604"/>
            <a:ext cx="10281954" cy="923330"/>
          </a:xfrm>
          <a:prstGeom prst="rect">
            <a:avLst/>
          </a:prstGeom>
          <a:noFill/>
        </p:spPr>
        <p:txBody>
          <a:bodyPr wrap="square" rtlCol="0">
            <a:spAutoFit/>
          </a:bodyPr>
          <a:lstStyle/>
          <a:p>
            <a:r>
              <a:rPr lang="en-IN">
                <a:latin typeface="Times New Roman" panose="02020603050405020304" pitchFamily="18" charset="0"/>
                <a:cs typeface="Times New Roman" panose="02020603050405020304" pitchFamily="18" charset="0"/>
              </a:rPr>
              <a:t>A clustering model is an unsupervised machine learning technique used to group similar data points into clusters based on their characteristics or patterns. It identifies natural groupings within data without using predefined labels, helping to discover hidden structures, customer segments, or behavioural patterns</a:t>
            </a:r>
          </a:p>
        </p:txBody>
      </p:sp>
    </p:spTree>
    <p:extLst>
      <p:ext uri="{BB962C8B-B14F-4D97-AF65-F5344CB8AC3E}">
        <p14:creationId xmlns:p14="http://schemas.microsoft.com/office/powerpoint/2010/main" val="3108245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60251F-A5DC-C28F-BB28-DB970957F0FB}"/>
              </a:ext>
            </a:extLst>
          </p:cNvPr>
          <p:cNvPicPr>
            <a:picLocks noChangeAspect="1"/>
          </p:cNvPicPr>
          <p:nvPr/>
        </p:nvPicPr>
        <p:blipFill>
          <a:blip r:embed="rId2"/>
          <a:stretch>
            <a:fillRect/>
          </a:stretch>
        </p:blipFill>
        <p:spPr>
          <a:xfrm>
            <a:off x="791881" y="1515786"/>
            <a:ext cx="6611273" cy="4429743"/>
          </a:xfrm>
          <a:prstGeom prst="rect">
            <a:avLst/>
          </a:prstGeom>
        </p:spPr>
      </p:pic>
      <p:sp>
        <p:nvSpPr>
          <p:cNvPr id="5" name="TextBox 4">
            <a:extLst>
              <a:ext uri="{FF2B5EF4-FFF2-40B4-BE49-F238E27FC236}">
                <a16:creationId xmlns:a16="http://schemas.microsoft.com/office/drawing/2014/main" id="{EAC6BBE1-811C-A4CF-495D-EE0A80DBFFC6}"/>
              </a:ext>
            </a:extLst>
          </p:cNvPr>
          <p:cNvSpPr txBox="1"/>
          <p:nvPr/>
        </p:nvSpPr>
        <p:spPr>
          <a:xfrm>
            <a:off x="678730" y="556181"/>
            <a:ext cx="1435820" cy="646331"/>
          </a:xfrm>
          <a:prstGeom prst="rect">
            <a:avLst/>
          </a:prstGeom>
          <a:noFill/>
        </p:spPr>
        <p:txBody>
          <a:bodyPr wrap="square" rtlCol="0">
            <a:spAutoFit/>
          </a:bodyPr>
          <a:lstStyle/>
          <a:p>
            <a:r>
              <a:rPr lang="en-US" u="sng" dirty="0"/>
              <a:t>OUTPUT:</a:t>
            </a:r>
            <a:endParaRPr lang="en-IN" u="sng" dirty="0"/>
          </a:p>
          <a:p>
            <a:endParaRPr lang="en-IN" dirty="0"/>
          </a:p>
        </p:txBody>
      </p:sp>
    </p:spTree>
    <p:extLst>
      <p:ext uri="{BB962C8B-B14F-4D97-AF65-F5344CB8AC3E}">
        <p14:creationId xmlns:p14="http://schemas.microsoft.com/office/powerpoint/2010/main" val="42524559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5A2138-EF01-2C8E-E4DD-2BC249A29A42}"/>
              </a:ext>
            </a:extLst>
          </p:cNvPr>
          <p:cNvSpPr txBox="1"/>
          <p:nvPr/>
        </p:nvSpPr>
        <p:spPr>
          <a:xfrm>
            <a:off x="473697" y="503490"/>
            <a:ext cx="11215539" cy="3970318"/>
          </a:xfrm>
          <a:prstGeom prst="rect">
            <a:avLst/>
          </a:prstGeom>
          <a:noFill/>
        </p:spPr>
        <p:txBody>
          <a:bodyPr wrap="square">
            <a:spAutoFit/>
          </a:bodyPr>
          <a:lstStyle/>
          <a:p>
            <a:pPr lvl="0"/>
            <a:r>
              <a:rPr lang="en-IN" b="1" u="sng"/>
              <a:t>KEY INSIGHTS:</a:t>
            </a:r>
          </a:p>
          <a:p>
            <a:pPr lvl="0"/>
            <a:endParaRPr lang="en-IN" b="1" u="sng"/>
          </a:p>
          <a:p>
            <a:r>
              <a:rPr lang="en-IN"/>
              <a:t> </a:t>
            </a:r>
          </a:p>
          <a:p>
            <a:pPr marL="285750" indent="-285750">
              <a:buFont typeface="Wingdings" panose="05000000000000000000" pitchFamily="2" charset="2"/>
              <a:buChar char="Ø"/>
            </a:pPr>
            <a:r>
              <a:rPr lang="en-IN"/>
              <a:t> Distinct Segments: Four clear employee clusters were identified, mainly grouped by job role and seniority (job level).</a:t>
            </a:r>
          </a:p>
          <a:p>
            <a:pPr marL="285750" indent="-285750">
              <a:buFont typeface="Wingdings" panose="05000000000000000000" pitchFamily="2" charset="2"/>
              <a:buChar char="Ø"/>
            </a:pPr>
            <a:r>
              <a:rPr lang="en-IN"/>
              <a:t>Main Drivers: Job Role is the strongest factor influencing segmentation, followed by Job Level.</a:t>
            </a:r>
          </a:p>
          <a:p>
            <a:pPr marL="285750" indent="-285750">
              <a:buFont typeface="Wingdings" panose="05000000000000000000" pitchFamily="2" charset="2"/>
              <a:buChar char="Ø"/>
            </a:pPr>
            <a:r>
              <a:rPr lang="en-IN"/>
              <a:t>Less Impactful Factors: Monthly Income and Distance from Home had minimal influence on clustering.</a:t>
            </a:r>
          </a:p>
          <a:p>
            <a:pPr marL="285750" indent="-285750">
              <a:buFont typeface="Wingdings" panose="05000000000000000000" pitchFamily="2" charset="2"/>
              <a:buChar char="Ø"/>
            </a:pPr>
            <a:r>
              <a:rPr lang="en-IN"/>
              <a:t>Cluster Composition:           </a:t>
            </a:r>
          </a:p>
          <a:p>
            <a:pPr marL="285750" indent="-285750">
              <a:buFont typeface="Arial" panose="020B0604020202020204" pitchFamily="34" charset="0"/>
              <a:buChar char="•"/>
            </a:pPr>
            <a:r>
              <a:rPr lang="en-IN"/>
              <a:t>  Cluster 1: Core Sales employees.</a:t>
            </a:r>
          </a:p>
          <a:p>
            <a:pPr marL="285750" indent="-285750">
              <a:buFont typeface="Arial" panose="020B0604020202020204" pitchFamily="34" charset="0"/>
              <a:buChar char="•"/>
            </a:pPr>
            <a:r>
              <a:rPr lang="en-IN"/>
              <a:t>   Cluster 2 &amp; 3: Two R&amp;D groups differentiated by seniority or roles.</a:t>
            </a:r>
          </a:p>
          <a:p>
            <a:pPr marL="285750" indent="-285750">
              <a:buFont typeface="Arial" panose="020B0604020202020204" pitchFamily="34" charset="0"/>
              <a:buChar char="•"/>
            </a:pPr>
            <a:r>
              <a:rPr lang="en-IN"/>
              <a:t>   Cluster 4: Diverse mix, primarily HR staff.</a:t>
            </a:r>
          </a:p>
          <a:p>
            <a:pPr marL="285750" indent="-285750">
              <a:buFont typeface="Wingdings" panose="05000000000000000000" pitchFamily="2" charset="2"/>
              <a:buChar char="Ø"/>
            </a:pPr>
            <a:r>
              <a:rPr lang="en-IN"/>
              <a:t> Overall Insight: Employee segmentation is primarily based on occupation and seniority, resulting in specialized clusters for Sales and R&amp;D, and a mixed HR-oriented group.</a:t>
            </a:r>
          </a:p>
          <a:p>
            <a:pPr lvl="0"/>
            <a:endParaRPr lang="en-IN" b="1" u="sng"/>
          </a:p>
        </p:txBody>
      </p:sp>
    </p:spTree>
    <p:extLst>
      <p:ext uri="{BB962C8B-B14F-4D97-AF65-F5344CB8AC3E}">
        <p14:creationId xmlns:p14="http://schemas.microsoft.com/office/powerpoint/2010/main" val="23235033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9858D-6413-5145-683D-4ACD47407468}"/>
              </a:ext>
            </a:extLst>
          </p:cNvPr>
          <p:cNvSpPr>
            <a:spLocks noGrp="1"/>
          </p:cNvSpPr>
          <p:nvPr>
            <p:ph type="title"/>
          </p:nvPr>
        </p:nvSpPr>
        <p:spPr>
          <a:xfrm>
            <a:off x="1716786" y="321755"/>
            <a:ext cx="7729728" cy="1188720"/>
          </a:xfrm>
        </p:spPr>
        <p:txBody>
          <a:bodyPr/>
          <a:lstStyle/>
          <a:p>
            <a:r>
              <a:rPr lang="en-US" u="sng"/>
              <a:t>Regression model: Total working years</a:t>
            </a:r>
            <a:endParaRPr lang="en-IN" u="sng"/>
          </a:p>
        </p:txBody>
      </p:sp>
      <p:pic>
        <p:nvPicPr>
          <p:cNvPr id="4" name="Picture 3">
            <a:extLst>
              <a:ext uri="{FF2B5EF4-FFF2-40B4-BE49-F238E27FC236}">
                <a16:creationId xmlns:a16="http://schemas.microsoft.com/office/drawing/2014/main" id="{019E4E3C-54BA-F9F0-B6E5-DA29E6382314}"/>
              </a:ext>
            </a:extLst>
          </p:cNvPr>
          <p:cNvPicPr>
            <a:picLocks noChangeAspect="1"/>
          </p:cNvPicPr>
          <p:nvPr/>
        </p:nvPicPr>
        <p:blipFill>
          <a:blip r:embed="rId2"/>
          <a:stretch>
            <a:fillRect/>
          </a:stretch>
        </p:blipFill>
        <p:spPr>
          <a:xfrm>
            <a:off x="1969198" y="2054225"/>
            <a:ext cx="6115904" cy="4067743"/>
          </a:xfrm>
          <a:prstGeom prst="rect">
            <a:avLst/>
          </a:prstGeom>
        </p:spPr>
      </p:pic>
    </p:spTree>
    <p:extLst>
      <p:ext uri="{BB962C8B-B14F-4D97-AF65-F5344CB8AC3E}">
        <p14:creationId xmlns:p14="http://schemas.microsoft.com/office/powerpoint/2010/main" val="29803756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AC0568-F4DC-87EE-74E0-81E832BEF091}"/>
              </a:ext>
            </a:extLst>
          </p:cNvPr>
          <p:cNvSpPr txBox="1"/>
          <p:nvPr/>
        </p:nvSpPr>
        <p:spPr>
          <a:xfrm>
            <a:off x="1385887" y="376375"/>
            <a:ext cx="5804554" cy="369332"/>
          </a:xfrm>
          <a:prstGeom prst="rect">
            <a:avLst/>
          </a:prstGeom>
          <a:noFill/>
        </p:spPr>
        <p:txBody>
          <a:bodyPr wrap="square">
            <a:spAutoFit/>
          </a:bodyPr>
          <a:lstStyle/>
          <a:p>
            <a:r>
              <a:rPr lang="en-US" u="sng"/>
              <a:t>OUTPUT:</a:t>
            </a:r>
            <a:endParaRPr lang="en-IN" u="sng"/>
          </a:p>
        </p:txBody>
      </p:sp>
      <p:pic>
        <p:nvPicPr>
          <p:cNvPr id="5" name="Picture 4">
            <a:extLst>
              <a:ext uri="{FF2B5EF4-FFF2-40B4-BE49-F238E27FC236}">
                <a16:creationId xmlns:a16="http://schemas.microsoft.com/office/drawing/2014/main" id="{1CF1CC2C-19B9-861D-7FEE-168215FD1F8D}"/>
              </a:ext>
            </a:extLst>
          </p:cNvPr>
          <p:cNvPicPr>
            <a:picLocks noChangeAspect="1"/>
          </p:cNvPicPr>
          <p:nvPr/>
        </p:nvPicPr>
        <p:blipFill>
          <a:blip r:embed="rId2"/>
          <a:stretch>
            <a:fillRect/>
          </a:stretch>
        </p:blipFill>
        <p:spPr>
          <a:xfrm>
            <a:off x="1385887" y="1256997"/>
            <a:ext cx="6554115" cy="4344006"/>
          </a:xfrm>
          <a:prstGeom prst="rect">
            <a:avLst/>
          </a:prstGeom>
        </p:spPr>
      </p:pic>
    </p:spTree>
    <p:extLst>
      <p:ext uri="{BB962C8B-B14F-4D97-AF65-F5344CB8AC3E}">
        <p14:creationId xmlns:p14="http://schemas.microsoft.com/office/powerpoint/2010/main" val="65461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19F633-52F2-C222-7FD6-38F5031337B8}"/>
              </a:ext>
            </a:extLst>
          </p:cNvPr>
          <p:cNvPicPr>
            <a:picLocks noChangeAspect="1"/>
          </p:cNvPicPr>
          <p:nvPr/>
        </p:nvPicPr>
        <p:blipFill>
          <a:blip r:embed="rId2"/>
          <a:stretch>
            <a:fillRect/>
          </a:stretch>
        </p:blipFill>
        <p:spPr>
          <a:xfrm>
            <a:off x="1462293" y="418680"/>
            <a:ext cx="5496692" cy="6020640"/>
          </a:xfrm>
          <a:prstGeom prst="rect">
            <a:avLst/>
          </a:prstGeom>
        </p:spPr>
      </p:pic>
    </p:spTree>
    <p:extLst>
      <p:ext uri="{BB962C8B-B14F-4D97-AF65-F5344CB8AC3E}">
        <p14:creationId xmlns:p14="http://schemas.microsoft.com/office/powerpoint/2010/main" val="16951361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F6AC23-85D7-7789-2FFD-3FEEBA4D6D6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FF3600C-0558-67D9-199B-1C872B0468F0}"/>
              </a:ext>
            </a:extLst>
          </p:cNvPr>
          <p:cNvSpPr txBox="1"/>
          <p:nvPr/>
        </p:nvSpPr>
        <p:spPr>
          <a:xfrm>
            <a:off x="473698" y="503490"/>
            <a:ext cx="11064710" cy="5078313"/>
          </a:xfrm>
          <a:prstGeom prst="rect">
            <a:avLst/>
          </a:prstGeom>
          <a:noFill/>
        </p:spPr>
        <p:txBody>
          <a:bodyPr wrap="square">
            <a:spAutoFit/>
          </a:bodyPr>
          <a:lstStyle/>
          <a:p>
            <a:pPr lvl="0"/>
            <a:r>
              <a:rPr lang="en-IN" b="1" u="sng"/>
              <a:t>KEY INSIGHTS:</a:t>
            </a:r>
          </a:p>
          <a:p>
            <a:pPr lvl="0"/>
            <a:endParaRPr lang="en-IN" b="1" u="sng"/>
          </a:p>
          <a:p>
            <a:pPr marL="285750" indent="-285750">
              <a:buFont typeface="Wingdings" panose="05000000000000000000" pitchFamily="2" charset="2"/>
              <a:buChar char="Ø"/>
            </a:pPr>
            <a:r>
              <a:rPr lang="en-IN"/>
              <a:t>Employee segmentation is primarily based on occupation and seniority, resulting in specialized clusters for Sales and R&amp;D, and a mixed HR-oriented group.</a:t>
            </a:r>
          </a:p>
          <a:p>
            <a:pPr marL="285750" indent="-285750">
              <a:buFont typeface="Wingdings" panose="05000000000000000000" pitchFamily="2" charset="2"/>
              <a:buChar char="Ø"/>
            </a:pPr>
            <a:r>
              <a:rPr lang="en-IN"/>
              <a:t>The model's Prediction Structure is Rule-Based, confirmed by the vertical clusters in the plot, showing it segments employees into specific experience groups (e.g., Junior, Senior).</a:t>
            </a:r>
          </a:p>
          <a:p>
            <a:pPr marL="285750" indent="-285750">
              <a:buFont typeface="Wingdings" panose="05000000000000000000" pitchFamily="2" charset="2"/>
              <a:buChar char="Ø"/>
            </a:pPr>
            <a:r>
              <a:rPr lang="en-IN"/>
              <a:t> The model is Highly Predictive, demonstrated by a strong Linear Correlation of approximately 0.90 between the actual and predicted working years.</a:t>
            </a:r>
          </a:p>
          <a:p>
            <a:pPr marL="285750" indent="-285750">
              <a:buFont typeface="Wingdings" panose="05000000000000000000" pitchFamily="2" charset="2"/>
              <a:buChar char="Ø"/>
            </a:pPr>
            <a:r>
              <a:rPr lang="en-IN"/>
              <a:t> The Prediction Error is Low, with the Mean Absolute Error (MAE) being only around 2.4 years, meaning the model's estimate is very close to the true experience level.</a:t>
            </a:r>
          </a:p>
          <a:p>
            <a:pPr marL="285750" indent="-285750">
              <a:buFont typeface="Wingdings" panose="05000000000000000000" pitchFamily="2" charset="2"/>
              <a:buChar char="Ø"/>
            </a:pPr>
            <a:r>
              <a:rPr lang="en-IN"/>
              <a:t> The model is Stable and Reliable for new data, as the prediction error is consistent across both the training and testing partitions.</a:t>
            </a:r>
          </a:p>
          <a:p>
            <a:pPr marL="285750" indent="-285750">
              <a:buFont typeface="Wingdings" panose="05000000000000000000" pitchFamily="2" charset="2"/>
              <a:buChar char="Ø"/>
            </a:pPr>
            <a:r>
              <a:rPr lang="en-IN"/>
              <a:t> This model creates Actionable Career Benchmarks, providing the rules needed to assess if an employee's profile aligns with their expected total working years for proactive career planning.</a:t>
            </a:r>
          </a:p>
          <a:p>
            <a:pPr lvl="0"/>
            <a:endParaRPr lang="en-IN" b="1" u="sng"/>
          </a:p>
          <a:p>
            <a:pPr lvl="0"/>
            <a:endParaRPr lang="en-IN" b="1" u="sng"/>
          </a:p>
          <a:p>
            <a:pPr lvl="0"/>
            <a:endParaRPr lang="en-IN" b="1" u="sng"/>
          </a:p>
          <a:p>
            <a:pPr lvl="0"/>
            <a:endParaRPr lang="en-IN" b="1" u="sng"/>
          </a:p>
        </p:txBody>
      </p:sp>
    </p:spTree>
    <p:extLst>
      <p:ext uri="{BB962C8B-B14F-4D97-AF65-F5344CB8AC3E}">
        <p14:creationId xmlns:p14="http://schemas.microsoft.com/office/powerpoint/2010/main" val="10128901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AA163-EDED-8258-B723-628558455DE2}"/>
              </a:ext>
            </a:extLst>
          </p:cNvPr>
          <p:cNvSpPr>
            <a:spLocks noGrp="1"/>
          </p:cNvSpPr>
          <p:nvPr>
            <p:ph type="title"/>
          </p:nvPr>
        </p:nvSpPr>
        <p:spPr>
          <a:xfrm>
            <a:off x="2231136" y="523613"/>
            <a:ext cx="7729728" cy="1188720"/>
          </a:xfrm>
        </p:spPr>
        <p:txBody>
          <a:bodyPr/>
          <a:lstStyle/>
          <a:p>
            <a:r>
              <a:rPr lang="en-US" b="1" u="sng"/>
              <a:t>Conclusion:</a:t>
            </a:r>
            <a:endParaRPr lang="en-IN" b="1" u="sng"/>
          </a:p>
        </p:txBody>
      </p:sp>
      <p:sp>
        <p:nvSpPr>
          <p:cNvPr id="3" name="Content Placeholder 2">
            <a:extLst>
              <a:ext uri="{FF2B5EF4-FFF2-40B4-BE49-F238E27FC236}">
                <a16:creationId xmlns:a16="http://schemas.microsoft.com/office/drawing/2014/main" id="{06B6CD3A-DA7C-A7E9-7501-B91D3DF0129D}"/>
              </a:ext>
            </a:extLst>
          </p:cNvPr>
          <p:cNvSpPr>
            <a:spLocks noGrp="1"/>
          </p:cNvSpPr>
          <p:nvPr>
            <p:ph idx="1"/>
          </p:nvPr>
        </p:nvSpPr>
        <p:spPr>
          <a:xfrm>
            <a:off x="2231136" y="2180844"/>
            <a:ext cx="7729728" cy="3101983"/>
          </a:xfrm>
        </p:spPr>
        <p:txBody>
          <a:bodyPr>
            <a:noAutofit/>
          </a:bodyPr>
          <a:lstStyle/>
          <a:p>
            <a:pPr marL="0" indent="0">
              <a:buNone/>
            </a:pPr>
            <a:r>
              <a:rPr lang="en-US" sz="1600" dirty="0">
                <a:latin typeface="Times New Roman" panose="02020603050405020304" pitchFamily="18" charset="0"/>
                <a:cs typeface="Times New Roman" panose="02020603050405020304" pitchFamily="18" charset="0"/>
              </a:rPr>
              <a:t>The completion of four analytical models has created a strong data-driven framework for human capital management, enabling a shift from reactive HR decisions to a proactive, evidence-based approach. The analysis revealed two key focus areas: </a:t>
            </a:r>
          </a:p>
          <a:p>
            <a:r>
              <a:rPr lang="en-US" sz="1600" dirty="0">
                <a:latin typeface="Times New Roman" panose="02020603050405020304" pitchFamily="18" charset="0"/>
                <a:cs typeface="Times New Roman" panose="02020603050405020304" pitchFamily="18" charset="0"/>
              </a:rPr>
              <a:t>Retention Risk Identified: The C5.0 model’s low recall (~25%) shows most at-risk employees are being missed—re-tuning is urgently needed.</a:t>
            </a:r>
          </a:p>
          <a:p>
            <a:r>
              <a:rPr lang="en-US" sz="1600" dirty="0">
                <a:latin typeface="Times New Roman" panose="02020603050405020304" pitchFamily="18" charset="0"/>
                <a:cs typeface="Times New Roman" panose="02020603050405020304" pitchFamily="18" charset="0"/>
              </a:rPr>
              <a:t>Targeted Interventions: The Two-Step Clustering model defined four employee segments, highlighting the High-Risk group (low income, high overtime) for focused action.</a:t>
            </a:r>
          </a:p>
          <a:p>
            <a:r>
              <a:rPr lang="en-US" sz="1600" dirty="0">
                <a:latin typeface="Times New Roman" panose="02020603050405020304" pitchFamily="18" charset="0"/>
                <a:cs typeface="Times New Roman" panose="02020603050405020304" pitchFamily="18" charset="0"/>
              </a:rPr>
              <a:t>Structural Fairness Insights: Regression models revealed a strong link between Job Level and pay, exposing a “loyalty penalty” for long-tenured employees without promotion.</a:t>
            </a:r>
          </a:p>
          <a:p>
            <a:r>
              <a:rPr lang="en-US" sz="1600" dirty="0">
                <a:latin typeface="Times New Roman" panose="02020603050405020304" pitchFamily="18" charset="0"/>
                <a:cs typeface="Times New Roman" panose="02020603050405020304" pitchFamily="18" charset="0"/>
              </a:rPr>
              <a:t>Policy Recommendation: Use these insights to revise compensation structures, address salary stagnation, and promote equitable growth opportunities.</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6508081"/>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Parcel</Template>
  <TotalTime>234</TotalTime>
  <Words>1042</Words>
  <Application>Microsoft Office PowerPoint</Application>
  <PresentationFormat>Widescreen</PresentationFormat>
  <Paragraphs>85</Paragraphs>
  <Slides>20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Calibri</vt:lpstr>
      <vt:lpstr>Calisto MT</vt:lpstr>
      <vt:lpstr>Gill Sans MT</vt:lpstr>
      <vt:lpstr>Times New Roman</vt:lpstr>
      <vt:lpstr>Wingdings</vt:lpstr>
      <vt:lpstr>Parcel</vt:lpstr>
      <vt:lpstr>PREDICTIVE  ANALYTICS  FOR  HR  STRATEGY</vt:lpstr>
      <vt:lpstr>SUMMARY OF PROJECT </vt:lpstr>
      <vt:lpstr>CLASSIFICATION MODEL: EMPLOYEE ATTRITION</vt:lpstr>
      <vt:lpstr>PowerPoint Presentation</vt:lpstr>
      <vt:lpstr>PowerPoint Presentation</vt:lpstr>
      <vt:lpstr>PowerPoint Presentation</vt:lpstr>
      <vt:lpstr>PowerPoint Presentation</vt:lpstr>
      <vt:lpstr>PowerPoint Presentation</vt:lpstr>
      <vt:lpstr>REGRESSION MODEL: EMPLOYEE MONTHLY INCOME</vt:lpstr>
      <vt:lpstr>PowerPoint Presentation</vt:lpstr>
      <vt:lpstr>PowerPoint Presentation</vt:lpstr>
      <vt:lpstr>PowerPoint Presentation</vt:lpstr>
      <vt:lpstr>CLUSTERING MODEL: EMPLOYEE SEGMENTATION</vt:lpstr>
      <vt:lpstr>PowerPoint Presentation</vt:lpstr>
      <vt:lpstr>PowerPoint Presentation</vt:lpstr>
      <vt:lpstr>Regression model: Total working years</vt:lpstr>
      <vt:lpstr>PowerPoint Presentation</vt:lpstr>
      <vt:lpstr>PowerPoint Presentation</vt:lpstr>
      <vt:lpstr>PowerPoint Presentation</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Aashish kumar sharma</dc:creator>
  <cp:lastModifiedBy>Urmila Dutta</cp:lastModifiedBy>
  <cp:revision>4</cp:revision>
  <dcterms:created xsi:type="dcterms:W3CDTF">2025-10-13T07:20:13Z</dcterms:created>
  <dcterms:modified xsi:type="dcterms:W3CDTF">2025-10-14T15:25:55Z</dcterms:modified>
</cp:coreProperties>
</file>